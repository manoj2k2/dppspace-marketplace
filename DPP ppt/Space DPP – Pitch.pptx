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I’ll show you Space DPP. It’s a workspace that helps manufacturers prepare Digital Product Passports.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Specifications, material records and supplier documents usually live in separate places. That makes it hard to see what’s known and what’s missing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 DPP follows four steps: build the product record, connect materials and evidence, review readiness, then publish.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product gets one record: number, brand, model, category, batch, serial number and country of manufacture.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you add the bill of materials, components and a reusable material library with origin and recycled content, plus your suppliers.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Carbon footprint records, supplier data and documents like material declarations stay attached to the product they belong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views show data gaps, and versions and approvals follow a lifecycle. This supports your preparation. It doesn’t decide legal compliance.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four views: the product catalog, the product record, the readiness assessment and the passport workspace.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Publishing a version creates a public passport page with a QR code. Visitors need no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open a live example, the Cargo 96 Commercial Battery passport, right now without signing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don’t replace your systems. You connect them, import the data, review it and publish.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SAP S/4HANA connector uses OData with OAuth 2.0. It brings in products, materials, bills of material and suppliers.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Generic REST connector takes JSON and supports four authentication methods. It also carries documents, evidence and carbon footprint.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only have files, you can import CSV, XLS or XLSX from an HTTPS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 more connectors are listed as coming soon, including Oracle, Teamcenter and Catena-X. No dates are promised.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workflow serves automotive, batteries and electronics, and industrial manufacturing.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Multi-part bills of materials, components and suppliers sit in one structured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Teams get a repeatable data process with environmental data and review workflows.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battery gets identity, materials and origin, carbon footprint, and evidence like declarations and test reports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one battery: collect the data, review the readiness checks, then publish a versioned passport.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There’s a free 90-day pilot with 5 products. Plans run from Starter at €49 a month to Enterprise from €1,800.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Drafts count toward your plan but archived records and extra versions don’t. QR scans aren’t billed.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background is the EU’s ESPR and the Battery Regulation. space DPP organizes your data and doesn’t certify compliance.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one product. Book a demo or register a workspace.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0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03961"/>
            <a:ext cx="3302000" cy="117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682241"/>
            <a:ext cx="10566400" cy="3362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03961"/>
            <a:ext cx="3302000" cy="117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682241"/>
            <a:ext cx="10566400" cy="3362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rgbClr val="3FBF8A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" y="1641158"/>
            <a:ext cx="10412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 SPACE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270000" y="2093277"/>
            <a:ext cx="10412476" cy="262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825"/>
              </a:lnSpc>
              <a:buNone/>
            </a:pPr>
            <a:r>
              <a:rPr lang="en-US" sz="6500" b="1" i="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Digital Product Passports, made manageable.</a:t>
            </a:r>
            <a:endParaRPr lang="en-US" sz="65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70000" y="4896803"/>
            <a:ext cx="10412476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A9C4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identity, materials, suppliers and evidence in one workspace.</a:t>
            </a:r>
            <a:endParaRPr lang="en-US" sz="18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pic>
        <p:nvPicPr>
          <p:cNvPr id="6" name="Image 0" descr="image.png">    </p:cNvPr>
          <p:cNvPicPr>
            <a:picLocks noChangeAspect="1"/>
          </p:cNvPicPr>
          <p:nvPr/>
        </p:nvPicPr>
        <p:blipFill>
          <a:blip r:embed="rId1"/>
          <a:srcRect l="12017" r="12017" t="0" b="0"/>
          <a:stretch/>
        </p:blipFill>
        <p:spPr>
          <a:xfrm>
            <a:off x="9694942" y="0"/>
            <a:ext cx="2308543" cy="30389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0" y="304800"/>
            <a:ext cx="26162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1200"/>
              </a:lnSpc>
              <a:buNone/>
            </a:pPr>
            <a:r>
              <a:rPr lang="en-US" sz="8000" b="1" dirty="0">
                <a:solidFill>
                  <a:srgbClr val="E0EAE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80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ATLAS DPP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203960"/>
            <a:ext cx="3401060" cy="119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information lives in too many places</a:t>
            </a:r>
            <a:endParaRPr lang="en-US" sz="28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2555240"/>
            <a:ext cx="340106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DPP-Space brings it together, so teams see what is known, missing and ready to review.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743450" y="1524000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54940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Specifications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8692" y="1844040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Kept in separate files and systems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43450" y="2265680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29108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Material and supplier records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8692" y="2585720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Managed on their own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43450" y="3007360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303276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Supporting documents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8692" y="3327400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 to link back to the product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2800" y="6238241"/>
            <a:ext cx="22920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DPP-Space · dppspace.com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pic>
        <p:nvPicPr>
          <p:cNvPr id="16" name="Image 0" descr="image.png">    </p:cNvPr>
          <p:cNvPicPr>
            <a:picLocks noChangeAspect="1"/>
          </p:cNvPicPr>
          <p:nvPr/>
        </p:nvPicPr>
        <p:blipFill>
          <a:blip r:embed="rId1"/>
          <a:srcRect l="12017" r="12017" t="0" b="0"/>
          <a:stretch/>
        </p:blipFill>
        <p:spPr>
          <a:xfrm>
            <a:off x="9694942" y="0"/>
            <a:ext cx="2308543" cy="30389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0" y="304800"/>
            <a:ext cx="26162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1200"/>
              </a:lnSpc>
              <a:buNone/>
            </a:pPr>
            <a:r>
              <a:rPr lang="en-US" sz="8000" b="1" dirty="0">
                <a:solidFill>
                  <a:srgbClr val="1B3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80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PLATFORM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203961"/>
            <a:ext cx="3401060" cy="119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product record to public passport</a:t>
            </a:r>
            <a:endParaRPr lang="en-US" sz="28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43450" y="1524000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54940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Product record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8692" y="1844041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Name, identifiers, category, core details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43450" y="2265680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29108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Materials and documents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8692" y="2585720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Materials, suppliers and evidence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43450" y="3007361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3032761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Readiness review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8692" y="3327400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Validation, data gaps, lifecycle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43450" y="3749041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774441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Publish and share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8692" y="4069080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Public page and QR code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12800" y="6238241"/>
            <a:ext cx="22920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DPP-Space · dppspace.com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pic>
        <p:nvPicPr>
          <p:cNvPr id="18" name="Image 0" descr="image.png">    </p:cNvPr>
          <p:cNvPicPr>
            <a:picLocks noChangeAspect="1"/>
          </p:cNvPicPr>
          <p:nvPr/>
        </p:nvPicPr>
        <p:blipFill>
          <a:blip r:embed="rId1"/>
          <a:srcRect l="12017" r="12017" t="0" b="0"/>
          <a:stretch/>
        </p:blipFill>
        <p:spPr>
          <a:xfrm>
            <a:off x="9694942" y="0"/>
            <a:ext cx="2308543" cy="30389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0" y="304800"/>
            <a:ext cx="26162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1200"/>
              </a:lnSpc>
              <a:buNone/>
            </a:pPr>
            <a:r>
              <a:rPr lang="en-US" sz="8000" b="1" dirty="0">
                <a:solidFill>
                  <a:srgbClr val="E0EAE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80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PLATFORM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203961"/>
            <a:ext cx="3401060" cy="119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Identity: a structured home for product identity</a:t>
            </a:r>
            <a:endParaRPr lang="en-US" sz="28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43450" y="1524000"/>
            <a:ext cx="0" cy="103886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54940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Core master data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8692" y="1844041"/>
            <a:ext cx="6536131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number and name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Brand, model and category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Description and weight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43450" y="2727961"/>
            <a:ext cx="0" cy="103886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753361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Identifiers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8692" y="3048000"/>
            <a:ext cx="6536131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identifiers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Batch and serial number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Country of manufacture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43450" y="3931920"/>
            <a:ext cx="0" cy="80772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395732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it matters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8692" y="4251961"/>
            <a:ext cx="65361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place for core details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Example: VX-200 battery module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2800" y="6238239"/>
            <a:ext cx="22920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DPP-Space · dppspace.com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pic>
        <p:nvPicPr>
          <p:cNvPr id="15" name="Image 0" descr="image.png">    </p:cNvPr>
          <p:cNvPicPr>
            <a:picLocks noChangeAspect="1"/>
          </p:cNvPicPr>
          <p:nvPr/>
        </p:nvPicPr>
        <p:blipFill>
          <a:blip r:embed="rId1"/>
          <a:srcRect l="12017" r="12017" t="0" b="0"/>
          <a:stretch/>
        </p:blipFill>
        <p:spPr>
          <a:xfrm>
            <a:off x="9694942" y="0"/>
            <a:ext cx="2308543" cy="30389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0" y="304800"/>
            <a:ext cx="26162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1200"/>
              </a:lnSpc>
              <a:buNone/>
            </a:pPr>
            <a:r>
              <a:rPr lang="en-US" sz="8000" b="1" dirty="0">
                <a:solidFill>
                  <a:srgbClr val="1B3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80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PLATFORM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203961"/>
            <a:ext cx="3401060" cy="159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Composition: materials, components and suppliers</a:t>
            </a:r>
            <a:endParaRPr lang="en-US" sz="28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43450" y="1524000"/>
            <a:ext cx="0" cy="103886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54940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Bill of materials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8692" y="1844039"/>
            <a:ext cx="6536131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BOM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 records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Material references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43450" y="2727961"/>
            <a:ext cx="0" cy="80772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753361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Material library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8692" y="3048000"/>
            <a:ext cx="65361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Shared and reusable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Weight, origin and recycled content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43450" y="3700782"/>
            <a:ext cx="0" cy="80772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3726182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Supplier records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8692" y="4020821"/>
            <a:ext cx="65361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Linked to materials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Sample: 3 components, 8 materials, 4 suppliers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2800" y="6238239"/>
            <a:ext cx="22920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DPP-Space · dppspace.com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pic>
        <p:nvPicPr>
          <p:cNvPr id="15" name="Image 0" descr="image.png">    </p:cNvPr>
          <p:cNvPicPr>
            <a:picLocks noChangeAspect="1"/>
          </p:cNvPicPr>
          <p:nvPr/>
        </p:nvPicPr>
        <p:blipFill>
          <a:blip r:embed="rId1"/>
          <a:srcRect l="12017" r="12017" t="0" b="0"/>
          <a:stretch/>
        </p:blipFill>
        <p:spPr>
          <a:xfrm>
            <a:off x="9694942" y="0"/>
            <a:ext cx="2308543" cy="30389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0" y="304800"/>
            <a:ext cx="26162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1200"/>
              </a:lnSpc>
              <a:buNone/>
            </a:pPr>
            <a:r>
              <a:rPr lang="en-US" sz="8000" b="1" dirty="0">
                <a:solidFill>
                  <a:srgbClr val="E0EAE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80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PLATFORM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203961"/>
            <a:ext cx="3401060" cy="119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Evidence: environmental data and documents</a:t>
            </a:r>
            <a:endParaRPr lang="en-US" sz="28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43450" y="1524000"/>
            <a:ext cx="0" cy="80772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54940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Carbon footprint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8692" y="1844039"/>
            <a:ext cx="65361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carbon footprint records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Linked to the product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43450" y="2496821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522221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Supplier data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8692" y="2816861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Supplier and manufacturing information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43450" y="3238500"/>
            <a:ext cx="0" cy="80772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326390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Documents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8692" y="3558539"/>
            <a:ext cx="65361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Compliance evidence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Material declarations as PDF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2800" y="6238239"/>
            <a:ext cx="2286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 -Space· dppspace.com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pic>
        <p:nvPicPr>
          <p:cNvPr id="15" name="Image 0" descr="image.png">    </p:cNvPr>
          <p:cNvPicPr>
            <a:picLocks noChangeAspect="1"/>
          </p:cNvPicPr>
          <p:nvPr/>
        </p:nvPicPr>
        <p:blipFill>
          <a:blip r:embed="rId1"/>
          <a:srcRect l="12017" r="12017" t="0" b="0"/>
          <a:stretch/>
        </p:blipFill>
        <p:spPr>
          <a:xfrm>
            <a:off x="9694942" y="0"/>
            <a:ext cx="2308543" cy="30389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0" y="304800"/>
            <a:ext cx="26162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1200"/>
              </a:lnSpc>
              <a:buNone/>
            </a:pPr>
            <a:r>
              <a:rPr lang="en-US" sz="8000" b="1" dirty="0">
                <a:solidFill>
                  <a:srgbClr val="1B3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80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PLATFORM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203961"/>
            <a:ext cx="3401060" cy="119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Readiness: review the work as it develops</a:t>
            </a:r>
            <a:endParaRPr lang="en-US" sz="28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2555239"/>
            <a:ext cx="340106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Supports internal preparation. It does not determine legal compliance.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743450" y="1524000"/>
            <a:ext cx="0" cy="80772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54940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Validation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8692" y="1844039"/>
            <a:ext cx="65361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Readiness and validation views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gaps made visible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43450" y="2496821"/>
            <a:ext cx="0" cy="80772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522221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Lifecycle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8692" y="2816861"/>
            <a:ext cx="65361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 versions and workflows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Approvals and audit history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43450" y="3469639"/>
            <a:ext cx="0" cy="80772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3495039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Passport generation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8692" y="3789682"/>
            <a:ext cx="65361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Passport workspace and views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QR-linked access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2800" y="6238239"/>
            <a:ext cx="2286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 -Space· dppspace.com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pic>
        <p:nvPicPr>
          <p:cNvPr id="16" name="Image 0" descr="image.png">    </p:cNvPr>
          <p:cNvPicPr>
            <a:picLocks noChangeAspect="1"/>
          </p:cNvPicPr>
          <p:nvPr/>
        </p:nvPicPr>
        <p:blipFill>
          <a:blip r:embed="rId1"/>
          <a:srcRect l="12017" r="12017" t="0" b="0"/>
          <a:stretch/>
        </p:blipFill>
        <p:spPr>
          <a:xfrm>
            <a:off x="9694942" y="0"/>
            <a:ext cx="2308543" cy="30389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0" y="304800"/>
            <a:ext cx="26162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1200"/>
              </a:lnSpc>
              <a:buNone/>
            </a:pPr>
            <a:r>
              <a:rPr lang="en-US" sz="8000" b="1" dirty="0">
                <a:solidFill>
                  <a:srgbClr val="E0EAE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80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PLATFORM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203961"/>
            <a:ext cx="340106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Command Center: four working views</a:t>
            </a:r>
            <a:endParaRPr lang="en-US" sz="28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43450" y="1524000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54940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catalog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8692" y="1844039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records, categories, status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43450" y="2265682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291082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record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8692" y="2585721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Identity, linked datasets, passport status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43450" y="3007361"/>
            <a:ext cx="0" cy="80772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3032761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Readiness assessment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8692" y="3327400"/>
            <a:ext cx="65361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 and carbon footprint steps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actions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43450" y="3980182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4005582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Passport workspace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8692" y="4300221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Identifier, lifecycle and publication status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12800" y="6238242"/>
            <a:ext cx="22920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DPP-Space · dppspace.com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pic>
        <p:nvPicPr>
          <p:cNvPr id="18" name="Image 0" descr="image.png">    </p:cNvPr>
          <p:cNvPicPr>
            <a:picLocks noChangeAspect="1"/>
          </p:cNvPicPr>
          <p:nvPr/>
        </p:nvPicPr>
        <p:blipFill>
          <a:blip r:embed="rId1"/>
          <a:srcRect l="12017" r="12017" t="0" b="0"/>
          <a:stretch/>
        </p:blipFill>
        <p:spPr>
          <a:xfrm>
            <a:off x="9694942" y="0"/>
            <a:ext cx="2308543" cy="30389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0" y="304800"/>
            <a:ext cx="26162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1200"/>
              </a:lnSpc>
              <a:buNone/>
            </a:pPr>
            <a:r>
              <a:rPr lang="en-US" sz="8000" b="1" dirty="0">
                <a:solidFill>
                  <a:srgbClr val="1B3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</a:t>
            </a:r>
            <a:endParaRPr lang="en-US" sz="80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PLATFORM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203964"/>
            <a:ext cx="3401060" cy="119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Publish and share: from version to QR code</a:t>
            </a:r>
            <a:endParaRPr lang="en-US" sz="28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43450" y="1524000"/>
            <a:ext cx="0" cy="80772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54940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Publish a version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8692" y="1844042"/>
            <a:ext cx="65361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Creates a public passport page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Versions count once per passport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43450" y="2496821"/>
            <a:ext cx="0" cy="80772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522221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QR code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8692" y="2816864"/>
            <a:ext cx="65361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Included with each active DPP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Scans not billed individually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43450" y="3469642"/>
            <a:ext cx="0" cy="80772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3495042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Public verification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8692" y="3789679"/>
            <a:ext cx="65361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Visitors need no account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Included in every plan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2800" y="6238242"/>
            <a:ext cx="22920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DPP-Space · dppspace.com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pic>
        <p:nvPicPr>
          <p:cNvPr id="15" name="Image 0" descr="image.png">    </p:cNvPr>
          <p:cNvPicPr>
            <a:picLocks noChangeAspect="1"/>
          </p:cNvPicPr>
          <p:nvPr/>
        </p:nvPicPr>
        <p:blipFill>
          <a:blip r:embed="rId1"/>
          <a:srcRect l="12017" r="12017" t="0" b="0"/>
          <a:stretch/>
        </p:blipFill>
        <p:spPr>
          <a:xfrm>
            <a:off x="9694942" y="0"/>
            <a:ext cx="2308543" cy="30389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0" y="304800"/>
            <a:ext cx="26162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1200"/>
              </a:lnSpc>
              <a:buNone/>
            </a:pPr>
            <a:r>
              <a:rPr lang="en-US" sz="8000" b="1" dirty="0">
                <a:solidFill>
                  <a:srgbClr val="E0EAE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80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PLATFORM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203964"/>
            <a:ext cx="340106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Showcase: see the published result</a:t>
            </a:r>
            <a:endParaRPr lang="en-US" sz="28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43450" y="1524000"/>
            <a:ext cx="0" cy="80772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54940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public passport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8692" y="1844042"/>
            <a:ext cx="65361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Cargo 96 Commercial Battery example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account required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43450" y="2496821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522221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QR-linked access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8692" y="2816864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published version gets a page and QR code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43450" y="3238500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326390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Command Center views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8692" y="3558542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Catalog, record, readiness, passport workspace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2800" y="6238242"/>
            <a:ext cx="22920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DPP-Space · dppspace.com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pic>
        <p:nvPicPr>
          <p:cNvPr id="15" name="Image 0" descr="image.png">    </p:cNvPr>
          <p:cNvPicPr>
            <a:picLocks noChangeAspect="1"/>
          </p:cNvPicPr>
          <p:nvPr/>
        </p:nvPicPr>
        <p:blipFill>
          <a:blip r:embed="rId1"/>
          <a:srcRect l="12017" r="12017" t="0" b="0"/>
          <a:stretch/>
        </p:blipFill>
        <p:spPr>
          <a:xfrm>
            <a:off x="9694942" y="0"/>
            <a:ext cx="2308543" cy="30389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0" y="304800"/>
            <a:ext cx="26162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1200"/>
              </a:lnSpc>
              <a:buNone/>
            </a:pPr>
            <a:r>
              <a:rPr lang="en-US" sz="8000" b="1" dirty="0">
                <a:solidFill>
                  <a:srgbClr val="1B3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80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INTEGRATIONS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203964"/>
            <a:ext cx="340106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Bring the data you already have</a:t>
            </a:r>
            <a:endParaRPr lang="en-US" sz="28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43450" y="1524000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54940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Connect a source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8692" y="1844042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SAP S/4HANA, REST or file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43450" y="2265679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291079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Import data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8692" y="2585721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Products, materials, BOMs, suppliers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43450" y="3007364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3032764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Review readiness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8692" y="3327400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Inspect the record and find gaps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43450" y="3749042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774442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Publish and share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8692" y="4069079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Public page and QR code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12800" y="6238242"/>
            <a:ext cx="22920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DPP-Space · dppspace.com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pic>
        <p:nvPicPr>
          <p:cNvPr id="18" name="Image 0" descr="image.png">    </p:cNvPr>
          <p:cNvPicPr>
            <a:picLocks noChangeAspect="1"/>
          </p:cNvPicPr>
          <p:nvPr/>
        </p:nvPicPr>
        <p:blipFill>
          <a:blip r:embed="rId1"/>
          <a:srcRect l="12017" r="12017" t="0" b="0"/>
          <a:stretch/>
        </p:blipFill>
        <p:spPr>
          <a:xfrm>
            <a:off x="9694942" y="0"/>
            <a:ext cx="2308543" cy="30389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0" y="304800"/>
            <a:ext cx="26162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1200"/>
              </a:lnSpc>
              <a:buNone/>
            </a:pPr>
            <a:r>
              <a:rPr lang="en-US" sz="8000" b="1" dirty="0">
                <a:solidFill>
                  <a:srgbClr val="E0EAE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80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INTEGRATIONS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203964"/>
            <a:ext cx="340106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SAP S/4HANA connector</a:t>
            </a:r>
            <a:endParaRPr lang="en-US" sz="28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43450" y="1524000"/>
            <a:ext cx="0" cy="103886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54940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Connection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8692" y="1844042"/>
            <a:ext cx="6536131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OData APIs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OAuth 2.0 client credentials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Incremental sync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43450" y="2727964"/>
            <a:ext cx="0" cy="80772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753364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brought in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8692" y="3048000"/>
            <a:ext cx="65361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Products and materials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Bills of material and suppliers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12800" y="6238242"/>
            <a:ext cx="22920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DPP-Space · dppspace.com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pic>
        <p:nvPicPr>
          <p:cNvPr id="12" name="Image 0" descr="image.png">    </p:cNvPr>
          <p:cNvPicPr>
            <a:picLocks noChangeAspect="1"/>
          </p:cNvPicPr>
          <p:nvPr/>
        </p:nvPicPr>
        <p:blipFill>
          <a:blip r:embed="rId1"/>
          <a:srcRect l="12017" r="12017" t="0" b="0"/>
          <a:stretch/>
        </p:blipFill>
        <p:spPr>
          <a:xfrm>
            <a:off x="9694942" y="0"/>
            <a:ext cx="2308543" cy="30389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0" y="304800"/>
            <a:ext cx="26162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1200"/>
              </a:lnSpc>
              <a:buNone/>
            </a:pPr>
            <a:r>
              <a:rPr lang="en-US" sz="8000" b="1" dirty="0">
                <a:solidFill>
                  <a:srgbClr val="1B3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80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INTEGRATIONS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203964"/>
            <a:ext cx="340106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Generic REST connector</a:t>
            </a:r>
            <a:endParaRPr lang="en-US" sz="28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43450" y="1524000"/>
            <a:ext cx="0" cy="103886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54940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Connection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8692" y="1844042"/>
            <a:ext cx="6536131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HTTP REST source with JSON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 key, bearer, basic or OAuth 2.0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Incremental sync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43450" y="2727964"/>
            <a:ext cx="0" cy="80772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753364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brought in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8692" y="3048000"/>
            <a:ext cx="65361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Products, materials, BOMs, suppliers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Documents, evidence, carbon footprint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12800" y="6238242"/>
            <a:ext cx="22920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DPP-Space · dppspace.com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pic>
        <p:nvPicPr>
          <p:cNvPr id="12" name="Image 0" descr="image.png">    </p:cNvPr>
          <p:cNvPicPr>
            <a:picLocks noChangeAspect="1"/>
          </p:cNvPicPr>
          <p:nvPr/>
        </p:nvPicPr>
        <p:blipFill>
          <a:blip r:embed="rId1"/>
          <a:srcRect l="12017" r="12017" t="0" b="0"/>
          <a:stretch/>
        </p:blipFill>
        <p:spPr>
          <a:xfrm>
            <a:off x="9694942" y="0"/>
            <a:ext cx="2308543" cy="30389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0" y="304800"/>
            <a:ext cx="26162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1200"/>
              </a:lnSpc>
              <a:buNone/>
            </a:pPr>
            <a:r>
              <a:rPr lang="en-US" sz="8000" b="1" dirty="0">
                <a:solidFill>
                  <a:srgbClr val="E0EAE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80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INTEGRATIONS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203964"/>
            <a:ext cx="340106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CSV / Excel connector</a:t>
            </a:r>
            <a:endParaRPr lang="en-US" sz="28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43450" y="1524000"/>
            <a:ext cx="0" cy="103886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54940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Connection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8692" y="1844042"/>
            <a:ext cx="6536131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CSV, XLS or XLSX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Public HTTPS file URL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connector authentication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43450" y="2727964"/>
            <a:ext cx="0" cy="80772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753364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brought in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8692" y="3048000"/>
            <a:ext cx="65361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Products, materials, BOMs, suppliers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Documents, evidence, carbon footprint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12800" y="6238242"/>
            <a:ext cx="22920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DPP-Space · dppspace.com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pic>
        <p:nvPicPr>
          <p:cNvPr id="12" name="Image 0" descr="image.png">    </p:cNvPr>
          <p:cNvPicPr>
            <a:picLocks noChangeAspect="1"/>
          </p:cNvPicPr>
          <p:nvPr/>
        </p:nvPicPr>
        <p:blipFill>
          <a:blip r:embed="rId1"/>
          <a:srcRect l="12017" r="12017" t="0" b="0"/>
          <a:stretch/>
        </p:blipFill>
        <p:spPr>
          <a:xfrm>
            <a:off x="9694942" y="0"/>
            <a:ext cx="2308543" cy="303895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0" y="304800"/>
            <a:ext cx="26162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1200"/>
              </a:lnSpc>
              <a:buNone/>
            </a:pPr>
            <a:r>
              <a:rPr lang="en-US" sz="8000" b="1" dirty="0">
                <a:solidFill>
                  <a:srgbClr val="1B3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80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INTEGRATIONS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203964"/>
            <a:ext cx="3401060" cy="119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 future connectors, coming soon</a:t>
            </a:r>
            <a:endParaRPr lang="en-US" sz="28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2555242"/>
            <a:ext cx="340106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available today. No delivery dates are implied.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743450" y="1524000"/>
            <a:ext cx="0" cy="80772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54940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ERP and finance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8692" y="1844042"/>
            <a:ext cx="65361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Oracle ERP, NetSuite, Workday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QuickBooks Online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43450" y="2496821"/>
            <a:ext cx="0" cy="80772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522221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Engineering and PLM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8692" y="2816864"/>
            <a:ext cx="65361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Teamcenter, Windchill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Autodesk Fusion, 3DEXPERIENCE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43450" y="3469642"/>
            <a:ext cx="0" cy="80772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3495042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spaces and analytics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8692" y="3789679"/>
            <a:ext cx="65361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Catena-X / EDC, Snowflake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Databricks, BigQuery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743450" y="4442464"/>
            <a:ext cx="0" cy="80772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4467864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Cloud, CRM and AI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28692" y="4762500"/>
            <a:ext cx="65361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Kafka, cloud storage, Salesforce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Jira, AI Prompt Processor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12800" y="6238242"/>
            <a:ext cx="22920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DPP-Space · dppspace.com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pic>
        <p:nvPicPr>
          <p:cNvPr id="19" name="Image 0" descr="image.png">    </p:cNvPr>
          <p:cNvPicPr>
            <a:picLocks noChangeAspect="1"/>
          </p:cNvPicPr>
          <p:nvPr/>
        </p:nvPicPr>
        <p:blipFill>
          <a:blip r:embed="rId1"/>
          <a:srcRect l="12017" r="12017" t="0" b="0"/>
          <a:stretch/>
        </p:blipFill>
        <p:spPr>
          <a:xfrm>
            <a:off x="9694942" y="0"/>
            <a:ext cx="2308543" cy="303895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0" y="304800"/>
            <a:ext cx="26162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1200"/>
              </a:lnSpc>
              <a:buNone/>
            </a:pPr>
            <a:r>
              <a:rPr lang="en-US" sz="8000" b="1" dirty="0">
                <a:solidFill>
                  <a:srgbClr val="E0EAE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80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SOLUTIONS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203958"/>
            <a:ext cx="340106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need, three kinds of product</a:t>
            </a:r>
            <a:endParaRPr lang="en-US" sz="28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43450" y="1524000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54940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Automotive and mobility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8692" y="1844042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Complex product structures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43450" y="2265685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291085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Batteries and electronics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8692" y="2585727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Material detail near the product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43450" y="3007358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3032758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Industrial manufacturing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8692" y="3327400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repeatable data process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2800" y="6238242"/>
            <a:ext cx="22920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DPP-Space · dppspace.com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pic>
        <p:nvPicPr>
          <p:cNvPr id="15" name="Image 0" descr="image.png">    </p:cNvPr>
          <p:cNvPicPr>
            <a:picLocks noChangeAspect="1"/>
          </p:cNvPicPr>
          <p:nvPr/>
        </p:nvPicPr>
        <p:blipFill>
          <a:blip r:embed="rId1"/>
          <a:srcRect l="12017" r="12017" t="0" b="0"/>
          <a:stretch/>
        </p:blipFill>
        <p:spPr>
          <a:xfrm>
            <a:off x="9694942" y="0"/>
            <a:ext cx="2308543" cy="303895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0" y="304800"/>
            <a:ext cx="26162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1200"/>
              </a:lnSpc>
              <a:buNone/>
            </a:pPr>
            <a:r>
              <a:rPr lang="en-US" sz="8000" b="1" dirty="0">
                <a:solidFill>
                  <a:srgbClr val="1B3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80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SOLUTIONS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203958"/>
            <a:ext cx="340106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Automotive and mobility</a:t>
            </a:r>
            <a:endParaRPr lang="en-US" sz="28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43450" y="1524000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54940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master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8692" y="1844042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Core identity, brand, model, category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43450" y="2265685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291085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BOM and components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8692" y="2585727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Multi-part bills of materials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43450" y="3007358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3032758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Supplier records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8692" y="3327400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Supplier information linked to the product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2800" y="6238242"/>
            <a:ext cx="22920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DPP-Space · dppspace.com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pic>
        <p:nvPicPr>
          <p:cNvPr id="15" name="Image 0" descr="image.png">    </p:cNvPr>
          <p:cNvPicPr>
            <a:picLocks noChangeAspect="1"/>
          </p:cNvPicPr>
          <p:nvPr/>
        </p:nvPicPr>
        <p:blipFill>
          <a:blip r:embed="rId1"/>
          <a:srcRect l="12017" r="12017" t="0" b="0"/>
          <a:stretch/>
        </p:blipFill>
        <p:spPr>
          <a:xfrm>
            <a:off x="9694942" y="0"/>
            <a:ext cx="2308543" cy="303895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0" y="304800"/>
            <a:ext cx="26162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1200"/>
              </a:lnSpc>
              <a:buNone/>
            </a:pPr>
            <a:r>
              <a:rPr lang="en-US" sz="8000" b="1" dirty="0">
                <a:solidFill>
                  <a:srgbClr val="E0EAE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80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SOLUTIONS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203958"/>
            <a:ext cx="340106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Industrial manufacturing</a:t>
            </a:r>
            <a:endParaRPr lang="en-US" sz="28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43450" y="1524000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54940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records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8692" y="1844042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shared workspace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43450" y="2265685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291085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Environmental data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8692" y="2585727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Carbon footprint linked to each product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43450" y="3007358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3032758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Readiness review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8692" y="3327400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 workflows across products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2800" y="6238242"/>
            <a:ext cx="22920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DPP-Space · dppspace.com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pic>
        <p:nvPicPr>
          <p:cNvPr id="15" name="Image 0" descr="image.png">    </p:cNvPr>
          <p:cNvPicPr>
            <a:picLocks noChangeAspect="1"/>
          </p:cNvPicPr>
          <p:nvPr/>
        </p:nvPicPr>
        <p:blipFill>
          <a:blip r:embed="rId1"/>
          <a:srcRect l="12017" r="12017" t="0" b="0"/>
          <a:stretch/>
        </p:blipFill>
        <p:spPr>
          <a:xfrm>
            <a:off x="9694942" y="0"/>
            <a:ext cx="2308543" cy="303895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0" y="304800"/>
            <a:ext cx="26162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1200"/>
              </a:lnSpc>
              <a:buNone/>
            </a:pPr>
            <a:r>
              <a:rPr lang="en-US" sz="8000" b="1" dirty="0">
                <a:solidFill>
                  <a:srgbClr val="1B3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80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SOLUTIONS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203958"/>
            <a:ext cx="3401060" cy="119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Batteries and electronics: Battery Passport</a:t>
            </a:r>
            <a:endParaRPr lang="en-US" sz="28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2555242"/>
            <a:ext cx="340106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Supports preparation under the EU Battery Regulation. It does not certify compliance.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743450" y="1524000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54940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identity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8692" y="1844042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Details, identifiers, model, batch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43450" y="2265685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291085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Materials and origin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8692" y="2585727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Weights, recycled content, origin countries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43450" y="3007358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3032758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Carbon footprint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8692" y="3327400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Value, method, system boundary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743450" y="3749042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774442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 and review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28692" y="4069085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Declarations, certificates, test reports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12800" y="6238242"/>
            <a:ext cx="22920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DPP-Space · dppspace.com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pic>
        <p:nvPicPr>
          <p:cNvPr id="19" name="Image 0" descr="image.png">    </p:cNvPr>
          <p:cNvPicPr>
            <a:picLocks noChangeAspect="1"/>
          </p:cNvPicPr>
          <p:nvPr/>
        </p:nvPicPr>
        <p:blipFill>
          <a:blip r:embed="rId1"/>
          <a:srcRect l="12017" r="12017" t="0" b="0"/>
          <a:stretch/>
        </p:blipFill>
        <p:spPr>
          <a:xfrm>
            <a:off x="9694942" y="0"/>
            <a:ext cx="2308543" cy="303895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0" y="304800"/>
            <a:ext cx="26162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1200"/>
              </a:lnSpc>
              <a:buNone/>
            </a:pPr>
            <a:r>
              <a:rPr lang="en-US" sz="8000" b="1" dirty="0">
                <a:solidFill>
                  <a:srgbClr val="E0EAE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80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SOLUTIONS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203958"/>
            <a:ext cx="3401060" cy="119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Battery workflow: one battery, then a repeatable process</a:t>
            </a:r>
            <a:endParaRPr lang="en-US" sz="28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43450" y="1524000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54940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Collect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8692" y="1844042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Product, supply-chain data and evidence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43450" y="2265685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291085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Review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8692" y="2585727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Readiness checks and data gaps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43450" y="3007358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3032758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Publish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8692" y="3327400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Versioned passport with QR-linked public view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2800" y="6238242"/>
            <a:ext cx="22920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DPP-Space · dppspace.com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pic>
        <p:nvPicPr>
          <p:cNvPr id="15" name="Image 0" descr="image.png">    </p:cNvPr>
          <p:cNvPicPr>
            <a:picLocks noChangeAspect="1"/>
          </p:cNvPicPr>
          <p:nvPr/>
        </p:nvPicPr>
        <p:blipFill>
          <a:blip r:embed="rId1"/>
          <a:srcRect l="12017" r="12017" t="0" b="0"/>
          <a:stretch/>
        </p:blipFill>
        <p:spPr>
          <a:xfrm>
            <a:off x="9694942" y="0"/>
            <a:ext cx="2308543" cy="303895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0" y="304800"/>
            <a:ext cx="26162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1200"/>
              </a:lnSpc>
              <a:buNone/>
            </a:pPr>
            <a:r>
              <a:rPr lang="en-US" sz="8000" b="1" dirty="0">
                <a:solidFill>
                  <a:srgbClr val="1B3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</a:t>
            </a:r>
            <a:endParaRPr lang="en-US" sz="80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PRICING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203958"/>
            <a:ext cx="340106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small, scale with your products</a:t>
            </a:r>
            <a:endParaRPr lang="en-US" sz="28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43450" y="1524000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54940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Free pilot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8692" y="1844042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90 days, 5 products, 10 DPPs, no credit card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43450" y="2265685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291085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Starter €49/mo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8692" y="2585727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products, 25 DPPs, 3 users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43450" y="3007358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3032758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Professional €179/mo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8692" y="3327400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Most popular. 100 products, 250 DPPs, 10 users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43450" y="3749042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774442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Business €499/mo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8692" y="4069085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500 products, 2,000 DPPs, 30 users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43450" y="4490727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4516127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from €1,800/mo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28692" y="4810758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2,000 products, 5,000 DPPs, 100 users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12800" y="6238242"/>
            <a:ext cx="22920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DPP-Space · dppspace.com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pic>
        <p:nvPicPr>
          <p:cNvPr id="21" name="Image 0" descr="image.png">    </p:cNvPr>
          <p:cNvPicPr>
            <a:picLocks noChangeAspect="1"/>
          </p:cNvPicPr>
          <p:nvPr/>
        </p:nvPicPr>
        <p:blipFill>
          <a:blip r:embed="rId1"/>
          <a:srcRect l="12017" r="12017" t="0" b="0"/>
          <a:stretch/>
        </p:blipFill>
        <p:spPr>
          <a:xfrm>
            <a:off x="9694942" y="0"/>
            <a:ext cx="2308543" cy="303895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0" y="304800"/>
            <a:ext cx="26162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1200"/>
              </a:lnSpc>
              <a:buNone/>
            </a:pPr>
            <a:r>
              <a:rPr lang="en-US" sz="8000" b="1" dirty="0">
                <a:solidFill>
                  <a:srgbClr val="E0EAE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</a:t>
            </a:r>
            <a:endParaRPr lang="en-US" sz="80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PRICING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203958"/>
            <a:ext cx="340106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Pricing: frequently asked questions</a:t>
            </a:r>
            <a:endParaRPr lang="en-US" sz="28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43450" y="1524000"/>
            <a:ext cx="0" cy="80772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54940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counts as a DPP?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8692" y="1844042"/>
            <a:ext cx="65361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Active records, drafts included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Archived records and versions do not count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43450" y="2496827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522227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Are QR scans charged?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8692" y="2816858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billed individually in normal use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43450" y="3238500"/>
            <a:ext cx="0" cy="80772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326390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Plans and tax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8692" y="3558542"/>
            <a:ext cx="65361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Prices exclude VAT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102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15% off with annual billing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2800" y="6238242"/>
            <a:ext cx="22920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DPP-Space · dppspace.com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pic>
        <p:nvPicPr>
          <p:cNvPr id="15" name="Image 0" descr="image.png">    </p:cNvPr>
          <p:cNvPicPr>
            <a:picLocks noChangeAspect="1"/>
          </p:cNvPicPr>
          <p:nvPr/>
        </p:nvPicPr>
        <p:blipFill>
          <a:blip r:embed="rId1"/>
          <a:srcRect l="12017" r="12017" t="0" b="0"/>
          <a:stretch/>
        </p:blipFill>
        <p:spPr>
          <a:xfrm>
            <a:off x="9694942" y="0"/>
            <a:ext cx="2308543" cy="303895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0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0" y="304800"/>
            <a:ext cx="26162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1200"/>
              </a:lnSpc>
              <a:buNone/>
            </a:pPr>
            <a:r>
              <a:rPr lang="en-US" sz="8000" b="1" dirty="0">
                <a:solidFill>
                  <a:srgbClr val="1B3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</a:t>
            </a:r>
            <a:endParaRPr lang="en-US" sz="80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BACKGROUND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203958"/>
            <a:ext cx="3401060" cy="119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 guide: the regulatory background</a:t>
            </a:r>
            <a:endParaRPr lang="en-US" sz="28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2555242"/>
            <a:ext cx="340106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Regulation references only. No EU endorsement is implied.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743450" y="1524000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549400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ESPR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8692" y="1844042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EU Regulation 2024/1781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43450" y="2265685"/>
            <a:ext cx="0" cy="57658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291085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EU Battery Regulation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8692" y="2585727"/>
            <a:ext cx="653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Regulation (EU) 2023/1542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43450" y="3007358"/>
            <a:ext cx="0" cy="807720"/>
          </a:xfrm>
          <a:prstGeom prst="line">
            <a:avLst/>
          </a:prstGeom>
          <a:noFill/>
          <a:ln w="38100">
            <a:solidFill>
              <a:srgbClr val="3FB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3032758"/>
            <a:ext cx="66346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FBF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 Space role</a:t>
            </a:r>
            <a:endParaRPr lang="en-US" sz="16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8692" y="3327400"/>
            <a:ext cx="65361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Organizes and reviews data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algn="l" marL="163068" indent="-163068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legal advice, no certification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2800" y="6238242"/>
            <a:ext cx="22920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DPP-Space · dppspace.com</a:t>
            </a:r>
            <a:endParaRPr lang="en-US" sz="12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pic>
        <p:nvPicPr>
          <p:cNvPr id="16" name="Image 0" descr="image.png">    </p:cNvPr>
          <p:cNvPicPr>
            <a:picLocks noChangeAspect="1"/>
          </p:cNvPicPr>
          <p:nvPr/>
        </p:nvPicPr>
        <p:blipFill>
          <a:blip r:embed="rId1"/>
          <a:srcRect l="12017" r="12017" t="0" b="0"/>
          <a:stretch/>
        </p:blipFill>
        <p:spPr>
          <a:xfrm>
            <a:off x="9694942" y="0"/>
            <a:ext cx="2308543" cy="303895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7A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" y="2336800"/>
            <a:ext cx="10412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3C7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STEP</a:t>
            </a:r>
            <a:endParaRPr lang="en-US" sz="1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270000" y="2814327"/>
            <a:ext cx="10412476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000" b="1" i="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with one product.</a:t>
            </a:r>
            <a:endParaRPr lang="en-US" sz="50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70000" y="3741427"/>
            <a:ext cx="10412476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7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Book a demo, or register a company workspace and begin the free pilot.</a:t>
            </a:r>
            <a:endParaRPr lang="en-US" sz="18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70000" y="4290058"/>
            <a:ext cx="1041247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4EBE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dppspace.com. DPP-Space gives no legal advice and does not certify compliance.</a:t>
            </a:r>
            <a:endParaRPr lang="en-US" sz="13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pic>
        <p:nvPicPr>
          <p:cNvPr id="7" name="Image 0" descr="image.png">    </p:cNvPr>
          <p:cNvPicPr>
            <a:picLocks noChangeAspect="1"/>
          </p:cNvPicPr>
          <p:nvPr/>
        </p:nvPicPr>
        <p:blipFill>
          <a:blip r:embed="rId1"/>
          <a:srcRect l="12017" r="12017" t="0" b="0"/>
          <a:stretch/>
        </p:blipFill>
        <p:spPr>
          <a:xfrm>
            <a:off x="9694942" y="0"/>
            <a:ext cx="2308543" cy="30389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tlas DPP – Pitch">
  <a:themeElements>
    <a:clrScheme name="Atlas DPP – Pitch">
      <a:dk1>
        <a:srgbClr val="10241C"/>
      </a:dk1>
      <a:lt1>
        <a:srgbClr val="F4F7F5"/>
      </a:lt1>
      <a:dk2>
        <a:srgbClr val="273932"/>
      </a:dk2>
      <a:lt2>
        <a:srgbClr val="BBC2BF"/>
      </a:lt2>
      <a:accent1>
        <a:srgbClr val="3FBF8A"/>
      </a:accent1>
      <a:accent2>
        <a:srgbClr val="E8A33D"/>
      </a:accent2>
      <a:accent3>
        <a:srgbClr val="F3C77A"/>
      </a:accent3>
      <a:accent4>
        <a:srgbClr val="1F7A55"/>
      </a:accent4>
      <a:accent5>
        <a:srgbClr val="7F9A8E"/>
      </a:accent5>
      <a:accent6>
        <a:srgbClr val="A9C4B8"/>
      </a:accent6>
      <a:hlink>
        <a:srgbClr val="0563C1"/>
      </a:hlink>
      <a:folHlink>
        <a:srgbClr val="954F72"/>
      </a:folHlink>
    </a:clrScheme>
    <a:fontScheme name="Atlas DPP – Pitch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DPP – Pitch</dc:title>
  <dc:subject/>
  <dc:creator/>
  <cp:lastModifiedBy/>
  <cp:revision>1</cp:revision>
  <dcterms:created xsi:type="dcterms:W3CDTF">2026-10-31T11:36:43Z</dcterms:created>
  <dcterms:modified xsi:type="dcterms:W3CDTF">2026-10-31T11:36:43Z</dcterms:modified>
</cp:coreProperties>
</file>